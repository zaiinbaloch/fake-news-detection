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40"/>
                </a:solidFill>
                <a:latin typeface="Arial"/>
              </a:rPr>
              <a:t>Test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77-4CD5-B964-6CC7DF6CF8A2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77-4CD5-B964-6CC7DF6CF8A2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77-4CD5-B964-6CC7DF6CF8A2}"/>
              </c:ext>
            </c:extLst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77-4CD5-B964-6CC7DF6CF8A2}"/>
              </c:ext>
            </c:extLst>
          </c:dPt>
          <c:dPt>
            <c:idx val="4"/>
            <c:invertIfNegative val="0"/>
            <c:bubble3D val="0"/>
            <c:spPr>
              <a:solidFill>
                <a:srgbClr val="67E8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77-4CD5-B964-6CC7DF6CF8A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Naive Bayes</c:v>
                </c:pt>
                <c:pt idx="1">
                  <c:v>Random Forest</c:v>
                </c:pt>
                <c:pt idx="2">
                  <c:v>Logistic Reg.</c:v>
                </c:pt>
                <c:pt idx="3">
                  <c:v>SVM</c:v>
                </c:pt>
                <c:pt idx="4">
                  <c:v>KNN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94.85</c:v>
                </c:pt>
                <c:pt idx="1">
                  <c:v>98.81</c:v>
                </c:pt>
                <c:pt idx="2">
                  <c:v>99</c:v>
                </c:pt>
                <c:pt idx="3">
                  <c:v>99.36</c:v>
                </c:pt>
                <c:pt idx="4">
                  <c:v>94.6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677-4CD5-B964-6CC7DF6CF8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1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40"/>
                </a:solidFill>
                <a:latin typeface="Arial"/>
              </a:rPr>
              <a:t>AUC-ROC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5D-4BEB-A82A-4B46D9B7E1DD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5D-4BEB-A82A-4B46D9B7E1DD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5D-4BEB-A82A-4B46D9B7E1DD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5D-4BEB-A82A-4B46D9B7E1DD}"/>
              </c:ext>
            </c:extLst>
          </c:dPt>
          <c:dPt>
            <c:idx val="4"/>
            <c:invertIfNegative val="0"/>
            <c:bubble3D val="0"/>
            <c:spPr>
              <a:solidFill>
                <a:srgbClr val="9333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5D-4BEB-A82A-4B46D9B7E1D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Naive Bayes</c:v>
                </c:pt>
                <c:pt idx="1">
                  <c:v>Random Forest</c:v>
                </c:pt>
                <c:pt idx="2">
                  <c:v>Logistic Reg.</c:v>
                </c:pt>
                <c:pt idx="3">
                  <c:v>SVM</c:v>
                </c:pt>
                <c:pt idx="4">
                  <c:v>KNN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0.98760000000000003</c:v>
                </c:pt>
                <c:pt idx="1">
                  <c:v>0.999</c:v>
                </c:pt>
                <c:pt idx="2">
                  <c:v>0.999</c:v>
                </c:pt>
                <c:pt idx="3">
                  <c:v>0.99960000000000004</c:v>
                </c:pt>
                <c:pt idx="4">
                  <c:v>0.98340000000000005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D5D-4BEB-A82A-4B46D9B7E1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049999999999999"/>
          <c:min val="0.9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59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MINING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Research Gaps &amp; Project Contributions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36576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By: </a:t>
            </a:r>
            <a:r>
              <a:rPr lang="en-US" sz="1300" b="1" dirty="0">
                <a:solidFill>
                  <a:srgbClr val="FFFFFF"/>
                </a:solidFill>
              </a:rPr>
              <a:t>Zain Ul Abidin  |  </a:t>
            </a:r>
            <a:r>
              <a:rPr lang="en-US" sz="1300" dirty="0">
                <a:solidFill>
                  <a:srgbClr val="FFFFFF"/>
                </a:solidFill>
              </a:rPr>
              <a:t>BSDS 5-1  |  </a:t>
            </a:r>
            <a:r>
              <a:rPr lang="en-US" sz="1300" dirty="0">
                <a:solidFill>
                  <a:srgbClr val="06B6D4"/>
                </a:solidFill>
              </a:rPr>
              <a:t>Riphah International University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Subject: </a:t>
            </a:r>
            <a:r>
              <a:rPr lang="en-US" sz="1200" dirty="0">
                <a:solidFill>
                  <a:srgbClr val="FFFFFF"/>
                </a:solidFill>
              </a:rPr>
              <a:t>Data Mining  |  Teacher: Tajamul Shehzad  |  Spring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Prior Research  ·  Identified Gaps  ·  Project Contributions  ·  Model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Problem Background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Why fake news detection matters and the challenge it poses to society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4447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Prior Research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10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Key studies (2017–2024) and what each researcher implemented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64008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14447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Research Gaps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810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Low performance areas and limitations identified in existing 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31821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Project's Contributions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54787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6 models tested with proper splits, tuned TF-IDF, DBSCAN &amp; cross-validation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46120" y="274320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8328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83280" y="31821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Model 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54787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SVM 99.36%, Logistic Regression 99%, Random Forest 98.81% vs prior work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74320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2788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63640" y="31821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54787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Summary of how this work advances the state of fake news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Background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96112"/>
            <a:ext cx="2651760" cy="118872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44,898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News articles in dataset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D8"/>
                </a:solidFill>
              </a:rPr>
              <a:t>23,481 Fake · 21,417 Real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896112"/>
            <a:ext cx="2651760" cy="118872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914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55848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Fake news in dataset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783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D8"/>
                </a:solidFill>
              </a:rPr>
              <a:t>Near-balanced classes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4496" y="896112"/>
            <a:ext cx="2651760" cy="1188720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54496" y="914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54496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ML Models evaluated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1783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4D8"/>
                </a:solidFill>
              </a:rPr>
              <a:t>Supervised + Unsupervised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240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</a:rPr>
              <a:t>Why Is This Problem Important?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" y="26334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Fake news spreads rapidly across social media platforms, influencing public opinion and elections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" y="31455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Manual fact-checking cannot scale to millions of articles published daily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3657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Automated ML systems can flag suspicious content before it goes viral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21538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" y="41696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The dataset used covers both political news and general subject areas with clear FAKE/REAL labels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Research — Early Works (2017–2019)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73152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Granik &amp; Mesyura (2017)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IEEE Ukraine Conference on Electrical &amp; Computer Engineering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45389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Implemented: First major study using Naive Bayes classifier on a labeled fake news dataset. Simple bag-of-words features, no TF-IDF tuning.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GAP: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8105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Only 1 model tested · Low AUC (~0.79) · No validation split · No preprocessing 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304288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50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Wang (2017) — LIAR Dataset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ACL Annual Meeting, Vancouver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7980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Implemented: Introduced the LIAR benchmark dataset with 12,836 labeled statements. Used logistic regression and SVM as baselines on structured metadata.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154680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GAP: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1546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Focused only on short political statements · Accuracy below 28% on multi-class labels · No text cleaning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648456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648456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6941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Jiang et al. (2019) — Baseline Comparison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94106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Published in JAIT (Journal of AI &amp; Technology)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1422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Implemented: Ran 5 classical ML models + 3 deep learning models. First systematic comparison of shallow vs. deep approaches for fake news.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4498848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498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GAP: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449884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Deep learning needed huge compute · Classical models showed significant performance gap · No 3-way split used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Research — Recent Works (2021–2024)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73152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Varma, Verma et al. (2021) — Systematic Survey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Int. Journal of Intelligent Computing and Cybernetics · Emerald Publishing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45389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Implemented: Surveyed all ML &amp; DL fake news detection papers up to 2017. Covered datasets, preprocessing, feature extraction methods, and evaluation approaches.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GAP: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8105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Accuracy not yet consistent in real world · Only supervised methods covered · No unsupervised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304288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500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Patil et al. (2022) — Majority Voting Ensemble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arXiv: 2203.09936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7980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Implemented: Built a 9-classifier ensemble (Decision Tree, XGBoost, RF, Logistic Reg., SVM, AdaBoost, Extra Trees, SGD, Naive Bayes) using Majority Voting.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154680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GAP: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1546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Only 96.38% accuracy — lower than single well-tuned models · No validation split · No text lemmatization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648456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648456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6941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Ali et al. (2024) — SVM, NB, RF Comparison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94106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Engineering and Technology Journal · everant.org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1422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Implemented: Compared SVM, Naive Bayes, and Random Forest using TF-IDF on a validated fake/real dataset. SVM achieved 100% (small dataset), NB 94%, RF 99%.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4498848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498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GAP: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449884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Very small dataset — results don't generalize · Only 3 models · No KNN or unsupervised approach · 80/20 split only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Research — Surveys &amp; Specialized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73152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Comprehensive Survey — Springer Nature (2023/2024)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Multimedia Tools and Applications · DOI: 10.1007/s11042-023-17470-8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45389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Implemented: Extensive review of content-based, context-based, and hybrid feature approaches. Covered CNN, BERT, LSTM, and classical ML. Identified 3 major research gaps.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GAP: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81051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Models don't consider broad feature sets · Label scarcity in real-world · No early detection focus · No unsupervised benchmarking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304288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304288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500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Perveen et al. (2025) — Unsupervised GMM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PLOS ONE · PMC12360590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79806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Implemented: Proposed Gaussian Mixture Model + K-means + K-medoids for unsupervised fake news clustering. Achieved Silhouette Score 0.77, ARI 0.83.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154680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GAP: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31546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Still lower accuracy than supervised methods · Complex optimization needed · Not compared against standard TF-IDF classifiers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648456"/>
            <a:ext cx="8321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648456"/>
            <a:ext cx="73152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6941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Preprint (2024) — TF-IDF vs Word2Vec vs FastText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94106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Preprints.org · manuscript 202407.2317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1422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Implemented: Tested LR, NB, KNN, SVM, MLP, DT, RF with 3 embedding types on TruthSeeker dataset. SVM+TF-IDF: 99.03% accuracy.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4498848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498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GAP: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449884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Only 1 dataset · No validation split (just train/test) · No DBSCAN · KNN not independently benchmarked with SVD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291840"/>
            <a:ext cx="2560320" cy="2560320"/>
          </a:xfrm>
          <a:prstGeom prst="ellipse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Gaps in Prior Work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82296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420624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92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969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Limited Model Diversity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3350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CE0"/>
                </a:solidFill>
              </a:rPr>
              <a:t>Most studies tested only 1–3 models. No study combined NB, RF, LR, SVM, KNN, and DBSCAN in a single pipeline for comparison.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420624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3408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340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Poor TF-IDF Tuning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7066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CE0"/>
                </a:solidFill>
              </a:rPr>
              <a:t>Early works used default TF-IDF settings — no n-grams, no sublinear_tf — leading to AUC as low as 0.79 for Naive Bayes.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57600"/>
            <a:ext cx="420624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7124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Validation Split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782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CE0"/>
                </a:solidFill>
              </a:rPr>
              <a:t>Most studies used only a 2-way train/test split (80/20), making model selection biased and over-optimistic.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20624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914400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9692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9692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KNN Never Benchmarked Independently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13350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CE0"/>
                </a:solidFill>
              </a:rPr>
              <a:t>KNN was only used as a feature selector (not a classifier) in prior work; its standalone performance with SVD was unknown.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2286000"/>
            <a:ext cx="420624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2286000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23408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2340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Unsupervised Methods Ignored/Weak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27066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CE0"/>
                </a:solidFill>
              </a:rPr>
              <a:t>DBSCAN was absent from all classification comparisons. GMM studies existed but were not compared against TF-IDF baselines.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657600"/>
            <a:ext cx="4206240" cy="12618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3657600"/>
            <a:ext cx="64008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37124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Cross-Validation on Large Datasets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40782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CE0"/>
                </a:solidFill>
              </a:rPr>
              <a:t>5-fold cross-validation was rarely applied on datasets of 44K+ articles — mean CV F1 was never reported at this scale.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Covered in this Project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8229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41148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Prior Work Gap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This Project's Solution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Only 1–3 models tested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6 models: NB, RF, LR, SVM, KNN, DBSCAN in one pipeline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Basic TF-IDF → AUC only 0.79 for Naive Bayes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Tuned TF-IDF (ngrams, sublinear_tf) → NB AUC 0.9876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Only 80/20 train/test split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Proper 70/15/15 train/validation/test split with stratification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KNN only used as feature selector, never benchmarked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KNN benchmarked independently with TruncatedSVD + best-K search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 unsupervised clustering comparison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DBSCAN with Silhouette Score evaluation added as unsupervised layer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 cross-validation on large datasets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5-fold CV on 44K+ articles, Mean CV F1 = 0.9898 for LR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Ensemble voting only reached 96.38% 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SVM alone achieved 99.36%; LR 99%; surpassing all ensemble baselines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806440" y="914400"/>
          <a:ext cx="3017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Results vs. Prior Research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4023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Study / 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Models Used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Limitation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Granik &amp; Mesyura (2017)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~75–80%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~0.79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Naive Bayes only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No validation, no tuning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Wang — LIAR (2017)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&lt;28%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LR, SVM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6-class task, short statements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Patil et al. Ensemble (2022)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96.38%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Not reported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 models, majority vote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No validation set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Ali et al. (2024) SVM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99–100%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~0.99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SVM, NB, RF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Very small dataset, no KNN/DBSCAN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40"/>
                          </a:solidFill>
                        </a:rPr>
                        <a:t>THIS PROJECT — SVM (Best)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99.36%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0.9996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SVM, RF, LR, NB, KNN, DBSCAN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✔ 70/15/15 split · ✔ 44K dataset · ✔ 5-fold CV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 — What Makes It Different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1208" y="10698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Data Loading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Fake.csv + True.csv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44,898 articles merged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Label: fake=0 / real=1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47288" y="10698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4728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04488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EDA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Word clouds, subject dist.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Text length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Label balance 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96012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73368" y="106984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7336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30568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Lemmatization (NLTK)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Stopword removal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URL &amp; noise cleaning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" y="303580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8408" y="3063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TF-IDF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ngram_range=(1,2)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sublinear_tf=True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max_features=5000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47288" y="303580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4728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04488" y="3063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70/15/15 Split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Stratified splits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No data leakage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Validation set for tuning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292608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73368" y="3035808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73368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30568" y="3063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6 Models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NB · RF · LR · SVM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KNN (with SVD)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DBSCAN (unsupervised)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What Prior Research Achieved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64592" cy="164592"/>
          </a:xfrm>
          <a:prstGeom prst="ellipse">
            <a:avLst/>
          </a:prstGeom>
          <a:solidFill>
            <a:srgbClr val="4A90B8"/>
          </a:solidFill>
          <a:ln w="12700">
            <a:solidFill>
              <a:srgbClr val="4A9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3350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CE0"/>
                </a:solidFill>
              </a:rPr>
              <a:t>Established that NLP+ML can detect fake news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64592" cy="164592"/>
          </a:xfrm>
          <a:prstGeom prst="ellipse">
            <a:avLst/>
          </a:prstGeom>
          <a:solidFill>
            <a:srgbClr val="4A90B8"/>
          </a:solidFill>
          <a:ln w="12700">
            <a:solidFill>
              <a:srgbClr val="4A9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CE0"/>
                </a:solidFill>
              </a:rPr>
              <a:t>LIAR dataset benchmark created in 2017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164592" cy="164592"/>
          </a:xfrm>
          <a:prstGeom prst="ellipse">
            <a:avLst/>
          </a:prstGeom>
          <a:solidFill>
            <a:srgbClr val="4A90B8"/>
          </a:solidFill>
          <a:ln w="12700">
            <a:solidFill>
              <a:srgbClr val="4A9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2494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CE0"/>
                </a:solidFill>
              </a:rPr>
              <a:t>Showed SVM/RF outperform Naive Bayes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64592" cy="164592"/>
          </a:xfrm>
          <a:prstGeom prst="ellipse">
            <a:avLst/>
          </a:prstGeom>
          <a:solidFill>
            <a:srgbClr val="4A90B8"/>
          </a:solidFill>
          <a:ln w="12700">
            <a:solidFill>
              <a:srgbClr val="4A9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7066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CE0"/>
                </a:solidFill>
              </a:rPr>
              <a:t>Accuracy range: 75–99% across studies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64592" cy="164592"/>
          </a:xfrm>
          <a:prstGeom prst="ellipse">
            <a:avLst/>
          </a:prstGeom>
          <a:solidFill>
            <a:srgbClr val="4A90B8"/>
          </a:solidFill>
          <a:ln w="12700">
            <a:solidFill>
              <a:srgbClr val="4A90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16382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CE0"/>
                </a:solidFill>
              </a:rPr>
              <a:t>Surveys confirmed no single best approach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0" cy="365760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</a:rPr>
              <a:t>What This Project Added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10912" y="13350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6 models in one systematic pipeline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18288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17922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Proper 70/15/15 split (no bias in selection)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2860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10912" y="22494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Tuned TF-IDF → NB AUC 0.9876 vs 0.79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7432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10912" y="27066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SVM achieved 99.36% on 44K+ articles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2004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10912" y="31638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First to add DBSCAN as unsupervised complement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10912" y="36210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5-fold CV Mean F1 = 0.9898 at large scale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Fake News Detection  ·  Zain Ul Abidin  ·  BSDS 5-1  ·  Data Mining  ·  Riphah International University  ·  Spring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1523</Words>
  <Application>Microsoft Office PowerPoint</Application>
  <PresentationFormat>On-screen Show (16:9)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- Literature Review &amp; Research Gaps</dc:title>
  <dc:subject>PptxGenJS Presentation</dc:subject>
  <dc:creator>PptxGenJS</dc:creator>
  <cp:lastModifiedBy>Zain Rind</cp:lastModifiedBy>
  <cp:revision>2</cp:revision>
  <dcterms:created xsi:type="dcterms:W3CDTF">2026-05-12T21:07:15Z</dcterms:created>
  <dcterms:modified xsi:type="dcterms:W3CDTF">2026-05-13T11:20:48Z</dcterms:modified>
</cp:coreProperties>
</file>